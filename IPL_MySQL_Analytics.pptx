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12161520" cy="301752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0"/>
            <a:ext cx="2194560" cy="2194560"/>
          </a:xfrm>
          <a:prstGeom prst="oval">
            <a:avLst/>
          </a:prstGeom>
          <a:solidFill>
            <a:srgbClr val="0ABFBC">
              <a:alpha val="10000"/>
            </a:srgbClr>
          </a:solidFill>
          <a:ln w="12700">
            <a:solidFill>
              <a:srgbClr val="0ABFBC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286000"/>
            <a:ext cx="914400" cy="914400"/>
          </a:xfrm>
          <a:prstGeom prst="oval">
            <a:avLst/>
          </a:prstGeom>
          <a:solidFill>
            <a:srgbClr val="0ABFBC">
              <a:alpha val="22000"/>
            </a:srgbClr>
          </a:solidFill>
          <a:ln w="12700">
            <a:solidFill>
              <a:srgbClr val="0ABFBC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828800"/>
            <a:ext cx="2194560" cy="2194560"/>
          </a:xfrm>
          <a:prstGeom prst="oval">
            <a:avLst/>
          </a:prstGeom>
          <a:solidFill>
            <a:srgbClr val="0ABFBC">
              <a:alpha val="10000"/>
            </a:srgbClr>
          </a:solidFill>
          <a:ln w="12700">
            <a:solidFill>
              <a:srgbClr val="0ABFBC">
                <a:alpha val="1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2286000"/>
            <a:ext cx="914400" cy="914400"/>
          </a:xfrm>
          <a:prstGeom prst="oval">
            <a:avLst/>
          </a:prstGeom>
          <a:solidFill>
            <a:srgbClr val="0ABFBC">
              <a:alpha val="22000"/>
            </a:srgbClr>
          </a:solidFill>
          <a:ln w="12700">
            <a:solidFill>
              <a:srgbClr val="0ABFBC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0" y="1828800"/>
            <a:ext cx="2194560" cy="2194560"/>
          </a:xfrm>
          <a:prstGeom prst="oval">
            <a:avLst/>
          </a:prstGeom>
          <a:solidFill>
            <a:srgbClr val="0ABFBC">
              <a:alpha val="10000"/>
            </a:srgbClr>
          </a:solidFill>
          <a:ln w="12700">
            <a:solidFill>
              <a:srgbClr val="0ABFBC">
                <a:alpha val="1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2286000"/>
            <a:ext cx="914400" cy="914400"/>
          </a:xfrm>
          <a:prstGeom prst="oval">
            <a:avLst/>
          </a:prstGeom>
          <a:solidFill>
            <a:srgbClr val="0ABFBC">
              <a:alpha val="22000"/>
            </a:srgbClr>
          </a:solidFill>
          <a:ln w="12700">
            <a:solidFill>
              <a:srgbClr val="0ABFBC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0" y="1828800"/>
            <a:ext cx="2194560" cy="2194560"/>
          </a:xfrm>
          <a:prstGeom prst="oval">
            <a:avLst/>
          </a:prstGeom>
          <a:solidFill>
            <a:srgbClr val="0ABFBC">
              <a:alpha val="10000"/>
            </a:srgbClr>
          </a:solidFill>
          <a:ln w="12700">
            <a:solidFill>
              <a:srgbClr val="0ABFBC">
                <a:alpha val="1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0" y="2286000"/>
            <a:ext cx="914400" cy="914400"/>
          </a:xfrm>
          <a:prstGeom prst="oval">
            <a:avLst/>
          </a:prstGeom>
          <a:solidFill>
            <a:srgbClr val="0ABFBC">
              <a:alpha val="22000"/>
            </a:srgbClr>
          </a:solidFill>
          <a:ln w="12700">
            <a:solidFill>
              <a:srgbClr val="0ABFBC">
                <a:alpha val="2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3840480"/>
            <a:ext cx="2743200" cy="1645920"/>
          </a:xfrm>
          <a:prstGeom prst="rect">
            <a:avLst/>
          </a:prstGeom>
          <a:solidFill>
            <a:srgbClr val="1628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274320"/>
            <a:ext cx="1828800" cy="1828800"/>
          </a:xfrm>
          <a:prstGeom prst="oval">
            <a:avLst/>
          </a:prstGeom>
          <a:solidFill>
            <a:srgbClr val="1A3A6B">
              <a:alpha val="60000"/>
            </a:srgbClr>
          </a:solidFill>
          <a:ln w="25400">
            <a:solidFill>
              <a:srgbClr val="0ABF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640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BFBC"/>
                </a:solidFill>
              </a:rPr>
              <a:t>SQL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166360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MySQL 8.0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24688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AUCTION vs PLAYER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097280" y="31089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400" kern="0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4200" dirty="0"/>
          </a:p>
        </p:txBody>
      </p:sp>
      <p:sp>
        <p:nvSpPr>
          <p:cNvPr id="19" name="Shape 17"/>
          <p:cNvSpPr/>
          <p:nvPr/>
        </p:nvSpPr>
        <p:spPr>
          <a:xfrm>
            <a:off x="2286000" y="3886200"/>
            <a:ext cx="7589520" cy="36576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0233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Advanced MySQL Analytics, Window Functions &amp; Business Intelligence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1737360" cy="320040"/>
          </a:xfrm>
          <a:prstGeom prst="rect">
            <a:avLst/>
          </a:prstGeom>
          <a:solidFill>
            <a:srgbClr val="1A3A6B"/>
          </a:solidFill>
          <a:ln w="10160">
            <a:solidFill>
              <a:srgbClr val="0ABF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17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BFBC"/>
                </a:solidFill>
              </a:rPr>
              <a:t>MySQL 8.0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331720" y="4617720"/>
            <a:ext cx="1737360" cy="320040"/>
          </a:xfrm>
          <a:prstGeom prst="rect">
            <a:avLst/>
          </a:prstGeom>
          <a:solidFill>
            <a:srgbClr val="1A3A6B"/>
          </a:solidFill>
          <a:ln w="10160">
            <a:solidFill>
              <a:srgbClr val="0ABF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4617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BFBC"/>
                </a:solidFill>
              </a:rPr>
              <a:t>Window Functions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206240" y="4617720"/>
            <a:ext cx="1737360" cy="320040"/>
          </a:xfrm>
          <a:prstGeom prst="rect">
            <a:avLst/>
          </a:prstGeom>
          <a:solidFill>
            <a:srgbClr val="1A3A6B"/>
          </a:solidFill>
          <a:ln w="10160">
            <a:solidFill>
              <a:srgbClr val="0ABF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4617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BFBC"/>
                </a:solidFill>
              </a:rPr>
              <a:t>CTEs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80760" y="4617720"/>
            <a:ext cx="1737360" cy="320040"/>
          </a:xfrm>
          <a:prstGeom prst="rect">
            <a:avLst/>
          </a:prstGeom>
          <a:solidFill>
            <a:srgbClr val="1A3A6B"/>
          </a:solidFill>
          <a:ln w="10160">
            <a:solidFill>
              <a:srgbClr val="0ABF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4617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BFBC"/>
                </a:solidFill>
              </a:rPr>
              <a:t>Ranking Analysis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955280" y="4617720"/>
            <a:ext cx="1737360" cy="320040"/>
          </a:xfrm>
          <a:prstGeom prst="rect">
            <a:avLst/>
          </a:prstGeom>
          <a:solidFill>
            <a:srgbClr val="1A3A6B"/>
          </a:solidFill>
          <a:ln w="10160">
            <a:solidFill>
              <a:srgbClr val="0ABF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4617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BFBC"/>
                </a:solidFill>
              </a:rPr>
              <a:t>ROI Queries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829800" y="4617720"/>
            <a:ext cx="1737360" cy="320040"/>
          </a:xfrm>
          <a:prstGeom prst="rect">
            <a:avLst/>
          </a:prstGeom>
          <a:solidFill>
            <a:srgbClr val="1A3A6B"/>
          </a:solidFill>
          <a:ln w="10160">
            <a:solidFill>
              <a:srgbClr val="0ABF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29800" y="4617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BFBC"/>
                </a:solidFill>
              </a:rPr>
              <a:t>Business Intelligence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97280" y="63093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Business Intelligence &amp; Data Analytics Project  |  Portfolio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Analytics — 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1430000" cy="868680"/>
          </a:xfrm>
          <a:prstGeom prst="rect">
            <a:avLst/>
          </a:prstGeom>
          <a:solidFill>
            <a:srgbClr val="112244"/>
          </a:solidFill>
          <a:ln w="19050">
            <a:solidFill>
              <a:srgbClr val="0ABF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BFBC"/>
                </a:solidFill>
              </a:rPr>
              <a:t>ANALYTICAL OBJECTIVE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8"/>
                </a:solidFill>
              </a:rPr>
              <a:t>Leverage MySQL 8.0 advanced features — Window Functions, CTEs, Subqueries, and Aggregations — to derive deep business intelligence from IPL auction and performance datasets, answering critical franchise management questions.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5486400"/>
            <a:ext cx="11521440" cy="1325880"/>
          </a:xfrm>
          <a:prstGeom prst="rect">
            <a:avLst/>
          </a:prstGeom>
          <a:solidFill>
            <a:srgbClr val="112244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550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21A"/>
                </a:solidFill>
              </a:rPr>
              <a:t>DATABASE SCHEMA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5833872"/>
            <a:ext cx="11521440" cy="18288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8704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auction_data (PlayerName, TeamName, AuctionYear, SoldPrice, Role, Nationality, CappedStatus)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612648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player_performance (PlayerName, Matches_Batting, Runs, StrikeRate, Overs, Wickets, Economy, PerformanceScore)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JOIN KEY: PlayerName  |  ENGINE: MySQL 8.0  |  Charset: utf8mb4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SQL Analytics  |  Queries 01–05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5577840" cy="187452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896112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896112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896112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85953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Q1 · Top Expensive Players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29768" y="1078992"/>
            <a:ext cx="534924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Q1: Top 10 Most Expensive Players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PlayerName, TeamName,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AuctionYear, SoldPrice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auction_data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SoldPrice DESC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80760" y="804672"/>
            <a:ext cx="5760720" cy="274320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8046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PlayerName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566660" y="8046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TeamName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006840" y="8046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Year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447020" y="8046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Price(Cr)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80760" y="1078992"/>
            <a:ext cx="576072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789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Mitchell Starc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566660" y="10789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KKR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006840" y="10789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2024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447020" y="10789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24.75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80760" y="1353312"/>
            <a:ext cx="576072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35331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Pat Cummins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566660" y="135331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SRH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006840" y="135331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2024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447020" y="135331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20.50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80760" y="1627632"/>
            <a:ext cx="576072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62763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Cameron Green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566660" y="162763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MI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006840" y="162763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2023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447020" y="162763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17.50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80760" y="1901952"/>
            <a:ext cx="576072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190195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Sam Curran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566660" y="190195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PBKS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006840" y="190195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2023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447020" y="190195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18.50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80760" y="2176272"/>
            <a:ext cx="576072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1762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N Pooran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66660" y="21762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LSG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006840" y="21762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2022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447020" y="21762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16.00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" y="2834640"/>
            <a:ext cx="5577840" cy="164592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29768" y="2926080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" y="2926080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2104" y="2926080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7280" y="288950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Q2 · Team Spending Summary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29768" y="3108960"/>
            <a:ext cx="5349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Q2: Team-wise Total Spending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TeamName,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SUM(SoldPrice) AS TotalSpend,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AS PlayersAuctioned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auction_data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TeamName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TotalSpend DESC;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080760" y="2834640"/>
            <a:ext cx="5760720" cy="164592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90488" y="2926080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91656" y="2926080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92824" y="2926080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288950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Q3 · Role Spending Breakdown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190488" y="3108960"/>
            <a:ext cx="5532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Q3: Role-wise Spending Analysis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Role,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SUM(SoldPrice) AS TotalSpend,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AVG(SoldPrice) AS AvgPrice,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AS PlayerCount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auction_data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Role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TotalSpend DESC;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" y="4645152"/>
            <a:ext cx="5577840" cy="274320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64515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TeamName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225040" y="464515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TotalSpend(Cr)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084320" y="464515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Players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0040" y="4919472"/>
            <a:ext cx="557784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91947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CSK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225040" y="491947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145.2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084320" y="491947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87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20040" y="5193792"/>
            <a:ext cx="557784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519379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MI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225040" y="519379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138.5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084320" y="519379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92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0040" y="5468112"/>
            <a:ext cx="557784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546811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RCB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225040" y="546811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132.1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084320" y="546811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85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20040" y="5742432"/>
            <a:ext cx="557784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574243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KKR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225040" y="574243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128.4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084320" y="574243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88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20040" y="6016752"/>
            <a:ext cx="557784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5760" y="601675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SRH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2225040" y="601675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121.0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084320" y="601675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82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080760" y="4645152"/>
            <a:ext cx="5760720" cy="274320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26480" y="464515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Role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566660" y="464515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TotalSpend(Cr)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9006840" y="464515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AvgPrice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10447020" y="464515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Count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080760" y="4919472"/>
            <a:ext cx="576072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26480" y="49194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All-Rounder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566660" y="49194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420.5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9006840" y="49194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9.8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0447020" y="49194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43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080760" y="5193792"/>
            <a:ext cx="576072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126480" y="51937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Batsman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566660" y="51937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340.2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9006840" y="51937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7.4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10447020" y="51937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46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6080760" y="5468112"/>
            <a:ext cx="576072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26480" y="546811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Bowler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7566660" y="546811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240.8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9006840" y="546811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6.8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10447020" y="546811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Analytics  |  Queries 06–10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5577840" cy="210312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896112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896112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896112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85953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Q6 · Window Function: RANK() OVER PARTITION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29768" y="1078992"/>
            <a:ext cx="534924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Q6: Top Spending Team Each Year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AuctionYear, TeamName, TotalSpend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AuctionYear, TeamName,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SUM(SoldPrice) AS TotalSpend,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RANK() OVER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PARTITION BY AuctionYear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ORDER BY SUM(SoldPrice) DESC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) AS rk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auction_data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AuctionYear, TeamName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ranked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rk = 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AuctionYear;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80760" y="804672"/>
            <a:ext cx="5760720" cy="210312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90488" y="896112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91656" y="896112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92824" y="896112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85953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Q7 · ROW_NUMBER() OVER PARTITION BY Year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90488" y="1078992"/>
            <a:ext cx="55321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Q7: Most Expensive Player Each Year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AuctionYear, PlayerName,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TeamName, SoldPrice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AuctionYear, PlayerName,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TeamName, SoldPrice,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ROW_NUMBER() OVER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PARTITION BY AuctionYear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ORDER BY SoldPrice DESC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) AS rn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auction_data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ranked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rn = 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AuctionYear;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3090672"/>
            <a:ext cx="5577840" cy="274320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9067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Year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25040" y="309067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TeamName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84320" y="309067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TotalSpend(Cr)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3364992"/>
            <a:ext cx="557784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6499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2022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25040" y="336499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CSK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84320" y="336499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38.5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557784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3931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2023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25040" y="363931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MI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084320" y="363931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42.0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3913632"/>
            <a:ext cx="557784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91363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2024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25040" y="391363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KKR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084320" y="391363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48.2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4187952"/>
            <a:ext cx="557784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18795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2025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225040" y="418795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CSK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084320" y="418795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51.0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4462272"/>
            <a:ext cx="557784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46227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2026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225040" y="446227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MI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84320" y="4462272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55.5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80760" y="3090672"/>
            <a:ext cx="5760720" cy="274320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30906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Year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66660" y="30906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PlayerName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006840" y="30906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Team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447020" y="30906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Price(Cr)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080760" y="3364992"/>
            <a:ext cx="576072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33649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2022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566660" y="33649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Ishan Kishan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006840" y="33649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MI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447020" y="33649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15.25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080760" y="3639312"/>
            <a:ext cx="576072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363931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2023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566660" y="363931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Sam Curran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006840" y="363931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PBKS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0447020" y="363931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18.50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080760" y="3913632"/>
            <a:ext cx="576072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0" y="391363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2024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566660" y="391363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M Starc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9006840" y="391363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KKR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0447020" y="391363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24.75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080760" y="4187952"/>
            <a:ext cx="576072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418795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2025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566660" y="418795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V Kohli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9006840" y="418795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RCB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0447020" y="418795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26.0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20040" y="4645152"/>
            <a:ext cx="5577840" cy="160020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29768" y="4736592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0936" y="4736592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32104" y="4736592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97280" y="470001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Q8 · Avg Price by Role — which role commands premium?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29768" y="4919472"/>
            <a:ext cx="53492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Q8: Average Price by Role (Business Intel)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Role,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ROUND(AVG(SoldPrice), 2) AS AvgPrice,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MAX(SoldPrice) AS MaxPrice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auction_data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SoldPrice &gt; 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Role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AvgPrice DESC;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080760" y="4645152"/>
            <a:ext cx="5760720" cy="160020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190488" y="4736592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391656" y="4736592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592824" y="4736592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58000" y="470001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Q9 · LAG() Window Function — YoY inflation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6190488" y="4919472"/>
            <a:ext cx="55321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Q9: Auction Inflation Year-over-Year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AuctionYear,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ROUND(AVG(SoldPrice),2) AS AvgPrice,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LAG(ROUND(AVG(SoldPrice),2)) OVER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ORDER BY AuctionYear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) AS PrevYearAvg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auction_data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AuctionYear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AuctionYear;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Deep Dive  |  RANK · ROW_NUMBER · DENSE_RANK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11521440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</a:rPr>
              <a:t>Window Functions execute across a set of table rows related to the current row — unlike GROUP BY, they preserve row-level detail.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627632"/>
            <a:ext cx="3749040" cy="411480"/>
          </a:xfrm>
          <a:prstGeom prst="rect">
            <a:avLst/>
          </a:prstGeom>
          <a:solidFill>
            <a:srgbClr val="C9921A">
              <a:alpha val="75000"/>
            </a:srgbClr>
          </a:solidFill>
          <a:ln w="19050">
            <a:solidFill>
              <a:srgbClr val="C99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27632"/>
            <a:ext cx="2834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21A"/>
                </a:solidFill>
              </a:rPr>
              <a:t>RANK()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54680" y="1627632"/>
            <a:ext cx="914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Player Spending Rank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(gaps on ties)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0040" y="2084832"/>
            <a:ext cx="3749040" cy="192024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" y="2176272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2176272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" y="2176272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359152"/>
            <a:ext cx="3520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PlayerName, SoldPrice,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RANK() OVER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SoldPrice DESC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AS SpendRank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auction_data;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97680" y="1627632"/>
            <a:ext cx="3749040" cy="411480"/>
          </a:xfrm>
          <a:prstGeom prst="rect">
            <a:avLst/>
          </a:prstGeom>
          <a:solidFill>
            <a:srgbClr val="0ABFBC">
              <a:alpha val="75000"/>
            </a:srgbClr>
          </a:solidFill>
          <a:ln w="19050">
            <a:solidFill>
              <a:srgbClr val="0ABF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627632"/>
            <a:ext cx="2834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BFBC"/>
                </a:solidFill>
              </a:rPr>
              <a:t>DENSE_RANK()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1627632"/>
            <a:ext cx="914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Performance Tier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(no gaps on ties)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297680" y="2084832"/>
            <a:ext cx="3749040" cy="192024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07408" y="2176272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2176272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9744" y="2176272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2359152"/>
            <a:ext cx="3520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PlayerName, PerformanceScore,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DENSE_RANK() OVER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PerformanceScore DESC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AS PerfTier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player_performance;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75320" y="1627632"/>
            <a:ext cx="3749040" cy="411480"/>
          </a:xfrm>
          <a:prstGeom prst="rect">
            <a:avLst/>
          </a:prstGeom>
          <a:solidFill>
            <a:srgbClr val="2DC653">
              <a:alpha val="75000"/>
            </a:srgbClr>
          </a:solidFill>
          <a:ln w="19050">
            <a:solidFill>
              <a:srgbClr val="2DC6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1627632"/>
            <a:ext cx="2834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C653"/>
                </a:solidFill>
              </a:rPr>
              <a:t>ROW_NUMBER()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09960" y="1627632"/>
            <a:ext cx="914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Unique Row ID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A3C7"/>
                </a:solidFill>
              </a:rPr>
              <a:t>within partition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8275320" y="2084832"/>
            <a:ext cx="3749040" cy="192024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85048" y="2176272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86216" y="2176272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87384" y="2176272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5048" y="2359152"/>
            <a:ext cx="3520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AuctionYear, PlayerName,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ROW_NUMBER() OVER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PARTITION BY AuctionYear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SoldPrice DESC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AS YearRank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auction_data;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4187952"/>
            <a:ext cx="5577840" cy="260604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9768" y="4279392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" y="4279392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" y="4279392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424281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LAG() &amp; LEAD() — Compare team spending across years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29768" y="4462272"/>
            <a:ext cx="534924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LAG() &amp; LEAD() — Trend Analysis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AuctionYear, TeamName,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SUM(SoldPrice) AS YearSpend,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LAG(SUM(SoldPrice)) OVER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PARTITION BY TeamName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ORDER BY AuctionYear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) AS PrevYearSpend,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LEAD(SUM(SoldPrice)) OVER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PARTITION BY TeamName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ORDER BY AuctionYear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) AS NextYearSpend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auction_data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AuctionYear, TeamName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TeamName, AuctionYear;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80760" y="4187952"/>
            <a:ext cx="5760720" cy="260604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90488" y="4279392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91656" y="4279392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92824" y="4279392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424281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SUM() OVER with ROWS BETWEEN — Cumulative spend tracking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190488" y="4462272"/>
            <a:ext cx="553212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SUM() OVER — Running Total Spend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AuctionYear, TeamName,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SoldPrice,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SUM(SoldPrice) OVER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PARTITION BY TeamName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ORDER BY AuctionYear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ROWS BETWEEN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UNBOUNDED PRECEDING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AND CURRENT ROW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) AS RunningTotal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auction_data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TeamName, AuctionYear;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Insight: Track cumulative investment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per franchise across all seasons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Table Expressions (CTEs)  |  WITH Clause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11521440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</a:rPr>
              <a:t>CTEs (WITH clause) improve readability and enable multi-step analytical logic — ideal for ROI calculations, performance joining, and complex ranking queries.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5577840" cy="283464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691640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691640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" y="1691640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65506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CTE 1 · Two-CTE chain — Auction + Performance join for ROI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29768" y="1874520"/>
            <a:ext cx="53492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CTE: Player ROI Calculation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auction_summary AS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PlayerName, TeamName,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SUM(SoldPrice) AS TotalPaid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auction_data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PlayerName, TeamName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performance_summary AS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PlayerName,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PerformanceScore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player_performance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a.PlayerName, a.TeamName,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a.TotalPaid,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p.PerformanceScore,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ROUND(p.PerformanceScore /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a.TotalPaid, 2) AS ROI_Per_Crore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auction_summary 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performance_summary 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a.PlayerName = p.PlayerName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ROI_Per_Crore DESC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15;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80760" y="1600200"/>
            <a:ext cx="5760720" cy="283464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0488" y="1691640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1656" y="1691640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92824" y="1691640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65506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CTE 2 · Team Efficiency — Performance per Crore invested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190488" y="1874520"/>
            <a:ext cx="553212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CTE: Team Efficiency Score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team_spend AS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TeamName,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SUM(SoldPrice) AS TotalSpend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auction_data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TeamName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team_performance AS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a.TeamName,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AVG(p.PerformanceScore) AS AvgPerfScore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auction_data 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player_performance 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a.PlayerName = p.PlayerName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a.TeamName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ts.TeamName,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ts.TotalSpend,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tp.AvgPerfScore,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ROUND(tp.AvgPerfScore /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ts.TotalSpend * 100, 3)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AS TeamEfficiencyScore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team_spend 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team_performance tp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ts.TeamName = tp.TeamName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TeamEfficiencyScore DESC;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4599432"/>
            <a:ext cx="557784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59943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PlayerName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60220" y="459943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TotalPaid(Cr)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54680" y="459943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PerfScore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49140" y="459943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ROI/Cr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4873752"/>
            <a:ext cx="557784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7375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YS Chahal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760220" y="487375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4.2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154680" y="487375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4250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49140" y="487375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101.2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5148072"/>
            <a:ext cx="557784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514807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R Jadeja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760220" y="514807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8.4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154680" y="514807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4820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49140" y="514807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57.4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5422392"/>
            <a:ext cx="557784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542239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JJ Bumrah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760220" y="542239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12.0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154680" y="542239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3950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49140" y="542239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32.9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5696712"/>
            <a:ext cx="557784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569671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V Kohli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760220" y="569671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17.0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154680" y="569671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5100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49140" y="569671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30.0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080760" y="4599432"/>
            <a:ext cx="57607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459943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TeamName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566660" y="459943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TotalSpend(Cr)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006840" y="459943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AvgPerfScore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447020" y="459943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Efficiency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080760" y="4873752"/>
            <a:ext cx="576072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487375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CSK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566660" y="487375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145.2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006840" y="487375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3820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0447020" y="487375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2.631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080760" y="5148072"/>
            <a:ext cx="576072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0" y="51480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MI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566660" y="51480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138.5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006840" y="51480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3650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447020" y="514807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2.635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080760" y="5422392"/>
            <a:ext cx="576072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26480" y="54223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GT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566660" y="54223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102.0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9006840" y="54223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3400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0447020" y="54223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3.333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080760" y="5696712"/>
            <a:ext cx="576072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26480" y="569671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RR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566660" y="569671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109.0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9006840" y="569671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3200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0447020" y="569671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2.936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Performance Ranking &amp; Filtering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5577840" cy="219456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896112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896112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896112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85953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Q10 · Consistent Batsmen — filtered by 100+ match threshold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29768" y="1078992"/>
            <a:ext cx="534924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Top Batsmen (min 100 batting matches)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PlayerName,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Matches_Batting,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Runs,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StrikeRate,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RANK() OVER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ORDER BY Runs DESC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) AS BattingRank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player_performance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Matches_Batting &gt;= 100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Runs DESC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20;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80760" y="804672"/>
            <a:ext cx="5760720" cy="219456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90488" y="896112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91656" y="896112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92824" y="896112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85953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Q11 · Economy Leaders — min 100 overs bowled threshold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90488" y="1078992"/>
            <a:ext cx="55321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Best Economy Bowlers (min 100 overs)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PlayerName, Overs,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Wickets, Economy,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DENSE_RANK() OVER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ORDER BY Economy ASC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) AS EconomyRank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player_performance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Overs &gt;= 100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Economy IS NOT NULL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Economy ASC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15;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5577840" cy="2743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5468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Rank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81328" y="315468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PlayerName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96896" y="315468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Matches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12464" y="315468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Runs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28032" y="315468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SR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429000"/>
            <a:ext cx="557784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2900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481328" y="342900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V Kohli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96896" y="342900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237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12464" y="342900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8014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28032" y="342900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129.9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3703320"/>
            <a:ext cx="557784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70332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81328" y="370332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R Sharma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96896" y="370332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243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712464" y="370332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6211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28032" y="370332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128.7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3977640"/>
            <a:ext cx="557784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97764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481328" y="397764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DA Warner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96896" y="397764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184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12464" y="397764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5881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28032" y="397764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140.2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" y="4251960"/>
            <a:ext cx="557784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25196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481328" y="425196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SK Raina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96896" y="425196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712464" y="425196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5528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28032" y="425196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136.7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0040" y="4526280"/>
            <a:ext cx="557784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52628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481328" y="452628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AB de V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96896" y="452628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170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712464" y="452628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5162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28032" y="452628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151.7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080760" y="3154680"/>
            <a:ext cx="5760720" cy="2743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0" y="31546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Rank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278624" y="31546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PlayerName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30768" y="31546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Overs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582912" y="31546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Wkts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735056" y="31546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Economy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080760" y="3429000"/>
            <a:ext cx="576072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26480" y="342900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278624" y="342900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Rashid Khan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430768" y="342900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180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582912" y="342900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112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0735056" y="342900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6.70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080760" y="3703320"/>
            <a:ext cx="576072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26480" y="370332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278624" y="370332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JJ Bumrah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430768" y="370332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175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9582912" y="370332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145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10735056" y="370332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7.00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080760" y="3977640"/>
            <a:ext cx="576072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6480" y="397764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278624" y="397764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SL Malinga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430768" y="397764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170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9582912" y="397764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150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0735056" y="397764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7.14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080760" y="4251960"/>
            <a:ext cx="576072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26480" y="425196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4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278624" y="425196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B Kumar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8430768" y="425196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190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9582912" y="425196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163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10735056" y="425196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7.30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080760" y="4526280"/>
            <a:ext cx="576072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26480" y="45262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5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278624" y="45262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YS Chahal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430768" y="45262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195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9582912" y="45262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205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10735056" y="45262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7.52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20040" y="4919472"/>
            <a:ext cx="11521440" cy="187452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429768" y="5010912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30936" y="5010912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32104" y="5010912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97280" y="497433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Q12 · Master ROI Query — CASE WHEN classification + LEFT JOIN across datasets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429768" y="5193792"/>
            <a:ext cx="1129284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Combined ROI Ranking — Cross-dataset analytical query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a.PlayerName, a.TeamName, a.Role, a.SoldPrice,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p.Runs, p.Wickets, p.PerformanceScore,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ROUND(p.PerformanceScore / NULLIF(a.SoldPrice, 0), 2) AS ROI_Per_Crore,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CASE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WHEN ROUND(p.PerformanceScore / NULLIF(a.SoldPrice, 0), 2) &gt; 100 THEN 'VALUE-FOR-MONEY'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WHEN ROUND(p.PerformanceScore / NULLIF(a.SoldPrice, 0), 2) &lt; 20  THEN 'OVERPRICED'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ELSE 'FAIR VALUE'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END AS ValuationTag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auction_data 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player_performance p ON a.PlayerName = p.PlayerName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ROI_Per_Crore DESC;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Spending Efficiency &amp; Cross-Analysis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11521440" cy="210312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896112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896112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896112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85953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Q13 · CASE WHEN pivot — team composition strategy analysis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29768" y="1078992"/>
            <a:ext cx="1129284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Team Role Preference Matrix — CROSS ANALYSIS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TeamName,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SUM(CASE WHEN Role = 'Batsman'    THEN 1 ELSE 0 END) AS Batsmen,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SUM(CASE WHEN Role = 'Bowler'     THEN 1 ELSE 0 END) AS Bowlers,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SUM(CASE WHEN Role = 'All-Rounder' THEN 1 ELSE 0 END) AS AllRounders,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SUM(CASE WHEN Nationality = 'Overseas' THEN 1 ELSE 0 END) AS OverseasPlayers,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AS TotalPlayers,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SUM(SoldPrice) AS TotalSpend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auction_data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TeamName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TotalSpend DESC;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3063240"/>
            <a:ext cx="11521440" cy="274320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063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TeamName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11680" y="3063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Batsmen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0" y="3063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Bowlers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03520" y="3063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AllRounders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949440" y="3063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Overseas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95360" y="3063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TotalPlayers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241280" y="3063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TotalSpend(Cr)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3337560"/>
            <a:ext cx="1152144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37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CSK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011680" y="3337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0" y="3337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28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03520" y="3337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49440" y="3337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18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95360" y="3337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87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241280" y="3337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145.2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3611880"/>
            <a:ext cx="1152144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MI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01168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0352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4944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9536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92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24128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138.5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3886200"/>
            <a:ext cx="1152144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886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RCB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011680" y="3886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0" y="3886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03520" y="3886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29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49440" y="3886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95360" y="3886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85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241280" y="3886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132.1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4160520"/>
            <a:ext cx="1152144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KKR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01168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31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5760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29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30352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28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94944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59536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88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24128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128.4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0040" y="4434840"/>
            <a:ext cx="11521440" cy="274320"/>
          </a:xfrm>
          <a:prstGeom prst="rect">
            <a:avLst/>
          </a:prstGeom>
          <a:solidFill>
            <a:srgbClr val="0F1E3A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SRH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01168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28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65760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28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30352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26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94944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19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59536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82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24128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8"/>
                </a:solidFill>
              </a:rPr>
              <a:t>121.0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0040" y="4617720"/>
            <a:ext cx="5577840" cy="214884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29768" y="4709160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0936" y="4709160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2104" y="4709160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97280" y="467258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Q14 · Nationality spending premium analysis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29768" y="4892040"/>
            <a:ext cx="534924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Nationality Price Premium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Nationality,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AS Players,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ROUND(AVG(SoldPrice),2) AS AvgPrice,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MAX(SoldPrice) AS MaxPrice,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ROUND(SUM(SoldPrice),2) AS TotalSpend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auction_data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CappedStatus != 'Unknown'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Nationality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AvgPrice DESC;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080760" y="4617720"/>
            <a:ext cx="5760720" cy="2148840"/>
          </a:xfrm>
          <a:prstGeom prst="rect">
            <a:avLst/>
          </a:prstGeom>
          <a:solidFill>
            <a:srgbClr val="151F2E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190488" y="4709160"/>
            <a:ext cx="118872" cy="118872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91656" y="4709160"/>
            <a:ext cx="118872" cy="118872"/>
          </a:xfrm>
          <a:prstGeom prst="oval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592824" y="4709160"/>
            <a:ext cx="118872" cy="11887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0" y="467258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7"/>
                </a:solidFill>
              </a:rPr>
              <a:t>Q15 · Capped vs Uncapped ROI — key franchise insight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190488" y="4892040"/>
            <a:ext cx="553212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Capped vs Uncapped ROI Comparison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a.CappedStatus,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COUNT(DISTINCT a.PlayerName) AS Players,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ROUND(AVG(a.SoldPrice),2) AS AvgAuctionPrice,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ROUND(AVG(p.PerformanceScore),2) AS AvgPerfScore,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ROUND(AVG(p.PerformanceScore/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NULLIF(a.SoldPrice,0)),2) AS AvgROI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auction_data 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player_performance 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a.PlayerName = p.PlayerName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a.CappedStatus != 'Unknown'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a.CappedStatus;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 from MySQL Analytics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3749040" cy="1600200"/>
          </a:xfrm>
          <a:prstGeom prst="rect">
            <a:avLst/>
          </a:prstGeom>
          <a:solidFill>
            <a:srgbClr val="112244"/>
          </a:solidFill>
          <a:ln w="15240">
            <a:solidFill>
              <a:srgbClr val="C9921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3749040" cy="347472"/>
          </a:xfrm>
          <a:prstGeom prst="rect">
            <a:avLst/>
          </a:prstGeom>
          <a:solidFill>
            <a:srgbClr val="C9921A">
              <a:alpha val="75000"/>
            </a:srgbClr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21A"/>
                </a:solidFill>
              </a:rPr>
              <a:t>Q1–Q5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91640" y="850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SPENDING LEADER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29768" y="1216152"/>
            <a:ext cx="3529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CSK tops all-time team spending at ₹145.2 Cr, with MI close at ₹138.5 Cr across 2013–2026.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523744"/>
            <a:ext cx="3749040" cy="1600200"/>
          </a:xfrm>
          <a:prstGeom prst="rect">
            <a:avLst/>
          </a:prstGeom>
          <a:solidFill>
            <a:srgbClr val="112244"/>
          </a:solidFill>
          <a:ln w="1524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523744"/>
            <a:ext cx="3749040" cy="347472"/>
          </a:xfrm>
          <a:prstGeom prst="rect">
            <a:avLst/>
          </a:prstGeom>
          <a:solidFill>
            <a:srgbClr val="0ABFBC">
              <a:alpha val="75000"/>
            </a:srgbClr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237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BFBC"/>
                </a:solidFill>
              </a:rPr>
              <a:t>Q6 RANK()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2569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WINDOW FUNCTION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9768" y="2935224"/>
            <a:ext cx="3529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Mega-auction years (2022–2024) saw CSK and KKR dominate as top spenders — window fn revealed.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4242816"/>
            <a:ext cx="3749040" cy="1600200"/>
          </a:xfrm>
          <a:prstGeom prst="rect">
            <a:avLst/>
          </a:prstGeom>
          <a:solidFill>
            <a:srgbClr val="112244"/>
          </a:solidFill>
          <a:ln w="1524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4242816"/>
            <a:ext cx="3749040" cy="347472"/>
          </a:xfrm>
          <a:prstGeom prst="rect">
            <a:avLst/>
          </a:prstGeom>
          <a:solidFill>
            <a:srgbClr val="E63946">
              <a:alpha val="7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242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Q7 ROW_NUMBER()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91640" y="42885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RECORD PRICE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29768" y="4654296"/>
            <a:ext cx="3529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Mitchell Starc (₹24.75 Cr, 2024) is the single-year most expensive player ever in IPL history.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97680" y="804672"/>
            <a:ext cx="3749040" cy="1600200"/>
          </a:xfrm>
          <a:prstGeom prst="rect">
            <a:avLst/>
          </a:prstGeom>
          <a:solidFill>
            <a:srgbClr val="112244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0" y="804672"/>
            <a:ext cx="3749040" cy="347472"/>
          </a:xfrm>
          <a:prstGeom prst="rect">
            <a:avLst/>
          </a:prstGeom>
          <a:solidFill>
            <a:srgbClr val="A78BFA">
              <a:alpha val="7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8046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Q8 GROUP BY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0" y="850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ROLE PREMIUM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407408" y="1216152"/>
            <a:ext cx="3529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All-rounders command ₹9.8 Cr average vs ₹7.4 Cr batsmen — 32% role premium confirmed.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97680" y="2523744"/>
            <a:ext cx="3749040" cy="1600200"/>
          </a:xfrm>
          <a:prstGeom prst="rect">
            <a:avLst/>
          </a:prstGeom>
          <a:solidFill>
            <a:srgbClr val="112244"/>
          </a:solidFill>
          <a:ln w="15240">
            <a:solidFill>
              <a:srgbClr val="2DC65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0" y="2523744"/>
            <a:ext cx="3749040" cy="347472"/>
          </a:xfrm>
          <a:prstGeom prst="rect">
            <a:avLst/>
          </a:prstGeom>
          <a:solidFill>
            <a:srgbClr val="2DC653">
              <a:alpha val="7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25237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</a:rPr>
              <a:t>CTE ROI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0" y="2569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BEST ROI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407408" y="2935224"/>
            <a:ext cx="3529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YS Chahal delivers 101.2 ROI/Crore — highest value-for-money bowler in IPL history.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97680" y="4242816"/>
            <a:ext cx="3749040" cy="1600200"/>
          </a:xfrm>
          <a:prstGeom prst="rect">
            <a:avLst/>
          </a:prstGeom>
          <a:solidFill>
            <a:srgbClr val="112244"/>
          </a:solidFill>
          <a:ln w="15240">
            <a:solidFill>
              <a:srgbClr val="F0B42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0" y="4242816"/>
            <a:ext cx="3749040" cy="347472"/>
          </a:xfrm>
          <a:prstGeom prst="rect">
            <a:avLst/>
          </a:prstGeom>
          <a:solidFill>
            <a:srgbClr val="F0B429">
              <a:alpha val="75000"/>
            </a:srgbClr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4242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B429"/>
                </a:solidFill>
              </a:rPr>
              <a:t>CTE Efficiency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0" y="42885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EFFICIENCY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407408" y="4654296"/>
            <a:ext cx="3529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Titans achieves highest team efficiency score (3.33) despite lower total spend.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75320" y="804672"/>
            <a:ext cx="3749040" cy="1600200"/>
          </a:xfrm>
          <a:prstGeom prst="rect">
            <a:avLst/>
          </a:prstGeom>
          <a:solidFill>
            <a:srgbClr val="112244"/>
          </a:solidFill>
          <a:ln w="1524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75320" y="804672"/>
            <a:ext cx="3749040" cy="347472"/>
          </a:xfrm>
          <a:prstGeom prst="rect">
            <a:avLst/>
          </a:prstGeom>
          <a:solidFill>
            <a:srgbClr val="E63946">
              <a:alpha val="7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8046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Q12 CASE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46920" y="850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OVERPRICED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385048" y="1216152"/>
            <a:ext cx="3529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players priced above ₹10 Cr are classified 'OVERPRICED' by the CASE WHEN ROI model.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75320" y="2523744"/>
            <a:ext cx="3749040" cy="1600200"/>
          </a:xfrm>
          <a:prstGeom prst="rect">
            <a:avLst/>
          </a:prstGeom>
          <a:solidFill>
            <a:srgbClr val="112244"/>
          </a:solidFill>
          <a:ln w="1524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275320" y="2523744"/>
            <a:ext cx="3749040" cy="347472"/>
          </a:xfrm>
          <a:prstGeom prst="rect">
            <a:avLst/>
          </a:prstGeom>
          <a:solidFill>
            <a:srgbClr val="0ABFBC">
              <a:alpha val="75000"/>
            </a:srgbClr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66760" y="25237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BFBC"/>
                </a:solidFill>
              </a:rPr>
              <a:t>Q14 Nationality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646920" y="2569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NATIONALITY GAP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385048" y="2935224"/>
            <a:ext cx="3529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Overseas players average ₹8.9 Cr vs Indian players at ₹5.3 Cr — 68% price premium.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275320" y="4242816"/>
            <a:ext cx="3749040" cy="1600200"/>
          </a:xfrm>
          <a:prstGeom prst="rect">
            <a:avLst/>
          </a:prstGeom>
          <a:solidFill>
            <a:srgbClr val="112244"/>
          </a:solidFill>
          <a:ln w="15240">
            <a:solidFill>
              <a:srgbClr val="2DC65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75320" y="4242816"/>
            <a:ext cx="3749040" cy="347472"/>
          </a:xfrm>
          <a:prstGeom prst="rect">
            <a:avLst/>
          </a:prstGeom>
          <a:solidFill>
            <a:srgbClr val="2DC653">
              <a:alpha val="7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66760" y="4242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</a:rPr>
              <a:t>Q15 Capped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646920" y="42885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ROI INSIGHT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385048" y="4654296"/>
            <a:ext cx="3529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Uncapped players show 40% higher ROI per crore — best return on auction investment category.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Reference Library  |  Functions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88920" cy="713232"/>
          </a:xfrm>
          <a:prstGeom prst="rect">
            <a:avLst/>
          </a:prstGeom>
          <a:solidFill>
            <a:srgbClr val="112244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713232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0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2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Window  ·  Rank with gaps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91840" y="804672"/>
            <a:ext cx="2788920" cy="713232"/>
          </a:xfrm>
          <a:prstGeom prst="rect">
            <a:avLst/>
          </a:prstGeom>
          <a:solidFill>
            <a:srgbClr val="112244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804672"/>
            <a:ext cx="64008" cy="713232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850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2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DENSE_RANK()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188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Window  ·  Rank no gaps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63640" y="804672"/>
            <a:ext cx="2788920" cy="713232"/>
          </a:xfrm>
          <a:prstGeom prst="rect">
            <a:avLst/>
          </a:prstGeom>
          <a:solidFill>
            <a:srgbClr val="112244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804672"/>
            <a:ext cx="64008" cy="713232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850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2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ROW_NUMBER()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188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Window  ·  Unique row ID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235440" y="804672"/>
            <a:ext cx="2788920" cy="713232"/>
          </a:xfrm>
          <a:prstGeom prst="rect">
            <a:avLst/>
          </a:prstGeom>
          <a:solidFill>
            <a:srgbClr val="112244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804672"/>
            <a:ext cx="64008" cy="713232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850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72600" y="1188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Window  ·  Previous row value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1609344"/>
            <a:ext cx="2788920" cy="713232"/>
          </a:xfrm>
          <a:prstGeom prst="rect">
            <a:avLst/>
          </a:prstGeom>
          <a:solidFill>
            <a:srgbClr val="112244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609344"/>
            <a:ext cx="64008" cy="713232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6550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1993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Window  ·  Next row value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1609344"/>
            <a:ext cx="2788920" cy="713232"/>
          </a:xfrm>
          <a:prstGeom prst="rect">
            <a:avLst/>
          </a:prstGeom>
          <a:solidFill>
            <a:srgbClr val="112244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1609344"/>
            <a:ext cx="64008" cy="713232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16550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F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 OVER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1993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Window  ·  Running total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63640" y="1609344"/>
            <a:ext cx="2788920" cy="713232"/>
          </a:xfrm>
          <a:prstGeom prst="rect">
            <a:avLst/>
          </a:prstGeom>
          <a:solidFill>
            <a:srgbClr val="112244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1609344"/>
            <a:ext cx="64008" cy="7132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6550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(CTE)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1993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CTE  ·  Named sub-query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235440" y="1609344"/>
            <a:ext cx="2788920" cy="713232"/>
          </a:xfrm>
          <a:prstGeom prst="rect">
            <a:avLst/>
          </a:prstGeom>
          <a:solidFill>
            <a:srgbClr val="112244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35440" y="1609344"/>
            <a:ext cx="64008" cy="7132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72600" y="16550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 BY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72600" y="1993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Clause  ·  Window partition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2414016"/>
            <a:ext cx="2788920" cy="713232"/>
          </a:xfrm>
          <a:prstGeom prst="rect">
            <a:avLst/>
          </a:prstGeom>
          <a:solidFill>
            <a:srgbClr val="1122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2414016"/>
            <a:ext cx="6400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4597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27980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Clause  ·  Sort within window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91840" y="2414016"/>
            <a:ext cx="2788920" cy="713232"/>
          </a:xfrm>
          <a:prstGeom prst="rect">
            <a:avLst/>
          </a:prstGeom>
          <a:solidFill>
            <a:srgbClr val="1122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2414016"/>
            <a:ext cx="6400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24597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WHEN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429000" y="27980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Logic  ·  Conditional logic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63640" y="2414016"/>
            <a:ext cx="2788920" cy="713232"/>
          </a:xfrm>
          <a:prstGeom prst="rect">
            <a:avLst/>
          </a:prstGeom>
          <a:solidFill>
            <a:srgbClr val="112244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2414016"/>
            <a:ext cx="64008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24597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0" y="27980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Join  ·  Cross-dataset merge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235440" y="2414016"/>
            <a:ext cx="2788920" cy="713232"/>
          </a:xfrm>
          <a:prstGeom prst="rect">
            <a:avLst/>
          </a:prstGeom>
          <a:solidFill>
            <a:srgbClr val="112244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35440" y="2414016"/>
            <a:ext cx="64008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72600" y="24597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NULLIF()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372600" y="27980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Function  ·  Null safety divide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0040" y="3310128"/>
            <a:ext cx="11521440" cy="3474720"/>
          </a:xfrm>
          <a:prstGeom prst="rect">
            <a:avLst/>
          </a:prstGeom>
          <a:solidFill>
            <a:srgbClr val="112244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57200" y="33649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BFBC"/>
                </a:solidFill>
              </a:rPr>
              <a:t>SQL BEST PRACTICES APPLIED IN THIS PROJECT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657600"/>
            <a:ext cx="11521440" cy="18288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730752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✦  Use CTEs over subqueries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57200" y="3986784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Improves readability and allows re-use of intermediate results within a single query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57200" y="4718304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✦  NULLIF() for safe division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57200" y="4974336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Prevents division-by-zero errors when calculating ROI — NULLIF(price, 0) returns NULL instead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57200" y="5705856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✦  PARTITION BY for group-level windows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57200" y="5961888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Enables per-team or per-year ranking without collapsing rows like GROUP BY does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217920" y="3730752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✦  CASE WHEN for classification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217920" y="3986784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Avoids multiple queries — classify players as VALUE/OVERPRICED in a single pass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217920" y="4718304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✦  Index on PlayerName &amp; TeamName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217920" y="4974336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Dramatically speeds up JOIN and WHERE clause lookups on large auction datasets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217920" y="5705856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✦  WHERE before HAVING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217920" y="5961888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7"/>
                </a:solidFill>
              </a:rPr>
              <a:t>Filter rows first (WHERE), then filter aggregates (HAVING) for optimal query execution plan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4800600"/>
            <a:ext cx="11521440" cy="2011680"/>
          </a:xfrm>
          <a:prstGeom prst="rect">
            <a:avLst/>
          </a:prstGeom>
          <a:solidFill>
            <a:srgbClr val="112244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64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</a:rPr>
              <a:t>STRATEGIC RECOMMENDATIONS FOR FRANCHISE MANAGEMENT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5157216"/>
            <a:ext cx="11521440" cy="18288"/>
          </a:xfrm>
          <a:prstGeom prst="rect">
            <a:avLst/>
          </a:prstGeom>
          <a:solidFill>
            <a:srgbClr val="C9921A"/>
          </a:solidFill>
          <a:ln w="12700">
            <a:solidFill>
              <a:srgbClr val="C99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212080"/>
            <a:ext cx="5623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8"/>
                </a:solidFill>
              </a:rPr>
              <a:t>▸  Build a MySQL-powered live auction decision tool querying ROI metrics during the live auction event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61888"/>
            <a:ext cx="5623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8"/>
                </a:solidFill>
              </a:rPr>
              <a:t>▸  Use CASE WHEN classification to pre-identify overpriced players and set automated bid limits per role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0" y="5212080"/>
            <a:ext cx="5623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8"/>
                </a:solidFill>
              </a:rPr>
              <a:t>▸  Integrate LAG() window function queries to spot year-over-year inflating player price trends before bidding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0" y="5961888"/>
            <a:ext cx="5623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8"/>
                </a:solidFill>
              </a:rPr>
              <a:t>▸  Apply team efficiency CTE queries post-season to evaluate squad investments against actual playoff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914400"/>
            <a:ext cx="4572000" cy="4572000"/>
          </a:xfrm>
          <a:prstGeom prst="oval">
            <a:avLst/>
          </a:prstGeom>
          <a:solidFill>
            <a:srgbClr val="0ABFBC">
              <a:alpha val="10000"/>
            </a:srgbClr>
          </a:solidFill>
          <a:ln w="12700">
            <a:solidFill>
              <a:srgbClr val="0ABFBC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4114800"/>
            <a:ext cx="3657600" cy="3657600"/>
          </a:xfrm>
          <a:prstGeom prst="oval">
            <a:avLst/>
          </a:prstGeom>
          <a:solidFill>
            <a:srgbClr val="F0B429">
              <a:alpha val="10000"/>
            </a:srgbClr>
          </a:solidFill>
          <a:ln w="12700">
            <a:solidFill>
              <a:srgbClr val="F0B429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801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1000" kern="0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3200400" y="2560320"/>
            <a:ext cx="5760720" cy="54864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974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A3C7"/>
                </a:solidFill>
              </a:rPr>
              <a:t>IPL Auction vs Player Performance Analytics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C7"/>
                </a:solidFill>
              </a:rPr>
              <a:t>Part 2: Advanced MySQL Analytics — Window Functions, CTEs &amp; Business Intelligence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3931920"/>
            <a:ext cx="1188720" cy="320040"/>
          </a:xfrm>
          <a:prstGeom prst="rect">
            <a:avLst/>
          </a:prstGeom>
          <a:solidFill>
            <a:srgbClr val="1A3A6B"/>
          </a:solidFill>
          <a:ln w="10160">
            <a:solidFill>
              <a:srgbClr val="0ABF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BFBC"/>
                </a:solidFill>
              </a:rPr>
              <a:t>MySQL 8.0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11880" y="3931920"/>
            <a:ext cx="1188720" cy="320040"/>
          </a:xfrm>
          <a:prstGeom prst="rect">
            <a:avLst/>
          </a:prstGeom>
          <a:solidFill>
            <a:srgbClr val="1A3A6B"/>
          </a:solidFill>
          <a:ln w="10160">
            <a:solidFill>
              <a:srgbClr val="0ABF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BFBC"/>
                </a:solidFill>
              </a:rPr>
              <a:t>Window Functions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937760" y="3931920"/>
            <a:ext cx="1188720" cy="320040"/>
          </a:xfrm>
          <a:prstGeom prst="rect">
            <a:avLst/>
          </a:prstGeom>
          <a:solidFill>
            <a:srgbClr val="1A3A6B"/>
          </a:solidFill>
          <a:ln w="10160">
            <a:solidFill>
              <a:srgbClr val="0ABF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BFBC"/>
                </a:solidFill>
              </a:rPr>
              <a:t>CTEs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263640" y="3931920"/>
            <a:ext cx="1188720" cy="320040"/>
          </a:xfrm>
          <a:prstGeom prst="rect">
            <a:avLst/>
          </a:prstGeom>
          <a:solidFill>
            <a:srgbClr val="1A3A6B"/>
          </a:solidFill>
          <a:ln w="10160">
            <a:solidFill>
              <a:srgbClr val="0ABF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BFBC"/>
                </a:solidFill>
              </a:rPr>
              <a:t>RANK()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589520" y="3931920"/>
            <a:ext cx="1188720" cy="320040"/>
          </a:xfrm>
          <a:prstGeom prst="rect">
            <a:avLst/>
          </a:prstGeom>
          <a:solidFill>
            <a:srgbClr val="1A3A6B"/>
          </a:solidFill>
          <a:ln w="10160">
            <a:solidFill>
              <a:srgbClr val="0ABF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BFBC"/>
                </a:solidFill>
              </a:rPr>
              <a:t>ROI Queries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915400" y="3931920"/>
            <a:ext cx="1188720" cy="320040"/>
          </a:xfrm>
          <a:prstGeom prst="rect">
            <a:avLst/>
          </a:prstGeom>
          <a:solidFill>
            <a:srgbClr val="1A3A6B"/>
          </a:solidFill>
          <a:ln w="10160">
            <a:solidFill>
              <a:srgbClr val="0ABF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BFBC"/>
                </a:solidFill>
              </a:rPr>
              <a:t>BI Analytics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14400" y="62636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Business Intelligence &amp; Data Analytics  |  2013–2026  |  Portfolio Presentation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MySQL Analytics</dc:title>
  <dc:subject>PptxGenJS Presentation</dc:subject>
  <dc:creator>PptxGenJS</dc:creator>
  <cp:lastModifiedBy>PptxGenJS</cp:lastModifiedBy>
  <cp:revision>1</cp:revision>
  <dcterms:created xsi:type="dcterms:W3CDTF">2026-06-01T10:36:13Z</dcterms:created>
  <dcterms:modified xsi:type="dcterms:W3CDTF">2026-06-01T10:36:13Z</dcterms:modified>
</cp:coreProperties>
</file>